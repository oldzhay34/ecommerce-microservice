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77" r:id="rId24"/>
    <p:sldId id="282" r:id="rId25"/>
    <p:sldId id="278" r:id="rId26"/>
    <p:sldId id="279" r:id="rId27"/>
    <p:sldId id="280" r:id="rId28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63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D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E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274320"/>
            <a:ext cx="2286000" cy="2286000"/>
          </a:xfrm>
          <a:prstGeom prst="hexagon">
            <a:avLst/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10515600" y="2377440"/>
            <a:ext cx="1463040" cy="1463040"/>
          </a:xfrm>
          <a:prstGeom prst="hexagon">
            <a:avLst/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914400" y="5120640"/>
            <a:ext cx="1463040" cy="1463040"/>
          </a:xfrm>
          <a:prstGeom prst="hexagon">
            <a:avLst/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1005840" cy="1005840"/>
          </a:xfrm>
          <a:prstGeom prst="hexagon">
            <a:avLst/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SHOPBRIDGE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E-Ticaret Platformu — Mimari Sunumu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Mikroservisler · Hexagonal &amp; Clean Architecture · CQRS · Prompt Engineering ile Üretim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254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Spring Boot 3.3 · React + TypeScript · PostgreSQL · Redis · Elasticsearch · RabbitMQ · Docker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 süresi: ~15 dakika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 Ne Konuşacağız?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13232" y="1636776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6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63040" y="16367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Mimarisine Genel Bakış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63040" y="200253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tr-TR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mikroservis, API Gateway, </a:t>
            </a:r>
            <a:r>
              <a:rPr lang="tr-TR" sz="105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r>
              <a:rPr lang="tr-TR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r>
              <a:rPr lang="tr-TR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Cloud Service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825309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13232" y="2898648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6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2898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Arası İletişim (SOA)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463040" y="32644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Senkron REST + Asenkron RabbitMQ / Outbox / Saga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13232" y="416052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6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6304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İçi Mimari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463040" y="45262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Architecture + Clean Architecture katmanları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13232" y="5422392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6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54223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Derinlemesine: Media Service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63040" y="57881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component diyagramı (frontend dahil) + SOLID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1508760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245352" y="1636776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6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95160" y="16367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Mimarisi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995160" y="200253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 + Module Federation</a:t>
            </a:r>
            <a:r>
              <a:rPr lang="tr-TR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CDN Dağıtım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2770632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245352" y="2898648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6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95160" y="28986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Veri, Cache &amp; Arama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95160" y="326440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ER modeli, Redis, Elasticsearch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032504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245352" y="4160520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6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995160" y="41605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Güvenlik, CI/CD &amp; Deployment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995160" y="45262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test piramidi, Docker Compose → Kubernetes</a:t>
            </a:r>
            <a:r>
              <a:rPr lang="tr-TR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tr-TR" sz="105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r>
              <a:rPr lang="tr-TR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0760" y="5294376"/>
            <a:ext cx="5257800" cy="1060704"/>
          </a:xfrm>
          <a:prstGeom prst="roundRect">
            <a:avLst>
              <a:gd name="adj" fmla="val 689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245352" y="5422392"/>
            <a:ext cx="822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6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995160" y="54223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Metodolojisi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995160" y="578815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projenin nasıl "anayasa" promptlarıyla üretildiği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 KARARLARI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Bu Teknolojiler?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 3.3.x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733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olgunluk, uzun vadeli destek (LTS), güçlü DI/AOP ekosistemi ve hexagonal/CQRS gibi katmanlı mimarileri doğal olarak destekleyen yapı.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85800" y="22128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garantileri birebir takip ediliyor; ilişkisel bütünlük ve kurumsal kullanım kolaylığı NoSQL'in getirdiği şema esnekliğine bu projede tercih edildi.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85800" y="296265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17296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ömürlü / sık okunan veriler için cache-aside + TTL — DB'ye giden yükü azaltır, p95 gecikmeyi tek hamlede düşürür.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85800" y="371246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92277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CQRS'in okuma (read-model) tarafı: tam metin arama ve filtreleme yükünü PostgreSQL'den ayırır, N+1 sorgu riskini ortadan kaldırır.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3.13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67335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arası gevşek bağlı (loosely-coupled) asenkron haberleşme; Transactional Outbox + Choreography Saga ile 'mesaj kaybı' riski sıfırlanır.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2167128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217920" y="22128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42316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 / Module Federation ile bağımsız deploy edilebilir ekranlar; tip güvenliği runtime hatalarını derleme zamanına çeker.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2916936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217920" y="296265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317296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Gradle'a kıyasla daha deterministik, kurumsal CI/CD hatlarında bağımlılık ve yaşam-döngüsü yönetimi daha az yapılandırma ister.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3666744"/>
            <a:ext cx="5257800" cy="603504"/>
          </a:xfrm>
          <a:prstGeom prst="roundRect">
            <a:avLst>
              <a:gd name="adj" fmla="val 909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217920" y="371246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→ Kubernetes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92277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tek host'ta dev/test hızı; yarın aynı konteynerler Kubernetes + Load Balancer'a taşınabilir (mimari K8s'i şimdiden dışlamıyor).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Elicitation → Design Pattern Eşlemesi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Geliştirmeye başlamadan önce çıkarılan başlıca gereksinimler (FR/NFR) ve her biri için seçilen tasarım kalıbı — sonradan eklenmiş değil, kod bu kararlarla üretildi.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GEREKSİNİM (FR / NFR)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800600" y="1627632"/>
            <a:ext cx="2423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SEÇİLEN PATTERN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60920" y="162763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UYGULAMA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1155680" cy="0"/>
          </a:xfrm>
          <a:prstGeom prst="line">
            <a:avLst/>
          </a:prstGeom>
          <a:noFill/>
          <a:ln w="1587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11155680" cy="489204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416052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Roller (Customer/Store/Admin) farklı yetkilerle erişmeli, isteğin her aşamasında sırayla doğrulanmalı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800600" y="210997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800600" y="210997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Responsibility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60920" y="2011680"/>
            <a:ext cx="4297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JwtAuthFilter → RateLimitFilter → SecurityConfig filtre zinciri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500884"/>
            <a:ext cx="416052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Servisler birbirini bloklamadan, gevşek bağlı haberleşmeli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800600" y="2599182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800600" y="259918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(Pub/Sub)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60920" y="2500884"/>
            <a:ext cx="4297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OutboxEventPublisher → RabbitMQ → @RabbitListener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990088"/>
            <a:ext cx="11155680" cy="489204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02920" y="2990088"/>
            <a:ext cx="416052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 sağlayıcısı ileride değişebilmeli (MinIO → S3)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800600" y="3088386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800600" y="308838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Adapter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60920" y="2990088"/>
            <a:ext cx="4297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StoragePort arayüzü + </a:t>
            </a:r>
            <a:r>
              <a:rPr lang="en-US" sz="800" dirty="0" err="1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MinioStorageAdapter</a:t>
            </a:r>
            <a:r>
              <a:rPr lang="tr-TR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– AWSS3Adapter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" y="3479292"/>
            <a:ext cx="416052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event üretimi tüm use case'lerde tutarlı olmalı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800600" y="357759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800600" y="357759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360920" y="3479292"/>
            <a:ext cx="4297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MediaEventFactory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3968496"/>
            <a:ext cx="11155680" cy="489204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02920" y="3968496"/>
            <a:ext cx="416052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Yükleme gibi çok adımlı işlemler transaction sınırında izole yönetilmeli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800600" y="4066794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800600" y="406679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60920" y="3968496"/>
            <a:ext cx="4297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MediaUploadTransactionalDelegate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2920" y="4457700"/>
            <a:ext cx="416052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süreci merkezi bir orkestratöre bağımlı olmamalı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800600" y="455599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800600" y="455599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Choreography Saga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60920" y="4457700"/>
            <a:ext cx="4297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↔ Payment event akışı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4946904"/>
            <a:ext cx="11155680" cy="489204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502920" y="4946904"/>
            <a:ext cx="416052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Eşzamanlı güncellemelerde veri kaybı (lost update) olmamalı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4800600" y="5045202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800600" y="504520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360920" y="4946904"/>
            <a:ext cx="4297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@Version → media_asset.version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" y="5436108"/>
            <a:ext cx="416052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katmanı framework'e (Spring/JPA) bağımlı olmamalı, test edilebilir olmalı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4800600" y="5534406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4800600" y="553440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360920" y="5436108"/>
            <a:ext cx="4297680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application/port/{in,out} + Hexagonal Architecture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25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154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Mimarisi — Component Diyagramı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554480" cy="777240"/>
          </a:xfrm>
          <a:prstGeom prst="roundRect">
            <a:avLst>
              <a:gd name="adj" fmla="val 7059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554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/ Mobil)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1938528"/>
            <a:ext cx="6400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2743200" y="1417320"/>
            <a:ext cx="1965960" cy="10515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43200" y="1417320"/>
            <a:ext cx="1965960" cy="1051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(Spring Cloud Gateway</a:t>
            </a:r>
            <a:r>
              <a:rPr lang="tr-TR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</a:p>
          <a:p>
            <a:pPr marL="0" indent="0" algn="ctr">
              <a:buNone/>
            </a:pPr>
            <a:r>
              <a:rPr lang="tr-TR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r>
              <a:rPr lang="tr-TR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Proxy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· JWT · Rate Limit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32120" y="96012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532120" y="960120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tr-TR" sz="870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70" dirty="0"/>
          </a:p>
          <a:p>
            <a:pPr marL="0" indent="0" algn="ctr">
              <a:buNone/>
            </a:pP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7077456" y="96012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7077456" y="960120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622792" y="96012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622792" y="960120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532120" y="1655064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532120" y="1655064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077456" y="1655064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077456" y="1655064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622792" y="1655064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8622792" y="1655064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532120" y="2350008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532120" y="2350008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(Cloud/MinIO)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7077456" y="2350008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077456" y="2350008"/>
            <a:ext cx="1417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70" dirty="0"/>
          </a:p>
          <a:p>
            <a:pPr marL="0" indent="0" algn="ctr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(SMTP)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709160" y="1938528"/>
            <a:ext cx="77724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5394960" y="1097280"/>
            <a:ext cx="0" cy="1645920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777240" y="43159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Paylaşılan Altyapı (ecommerce-infra)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" y="47091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77240" y="4709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3.13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68880" y="4709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Asenkron event bus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52120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77240" y="5212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468880" y="5212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okuma modeli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77240" y="5715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777240" y="5715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7.2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68880" y="5715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 / TTL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715000" y="4160520"/>
            <a:ext cx="594360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5943600" y="43159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Başına Ayrı PostgreSQL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43600" y="466344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mikroservis kendi veritabanına yazar (database-per-service). Doğrudan çapraz JOIN yoktur; servisler arası veri paylaşımı yalnızca event (RabbitMQ) veya senkron REST üzerinden olur — bu, veri sahipliğini ve güvenliği netleştirir.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 flipV="1">
            <a:off x="2926080" y="2514600"/>
            <a:ext cx="914" cy="164592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18288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(event)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Mikroservis + 1 Paylaşılan Altyapı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13232" y="15819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207008" y="15453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0391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giriş noktası; routing, CORS, JWT doğrulama, rate limiting.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78808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343400" y="15819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837176" y="15453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(PromptEngineering)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61688" y="20391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Kayıt/giriş, JWT üretimi, OTP, rol yönetimi (ROLE_CUSTOMER/STORE/ADMIN).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08976" y="14173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7973568" y="15819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467344" y="15453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91856" y="20391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kataloğu; PostgreSQL yazma + Elasticsearch okuma modeli (CQRS).</a:t>
            </a:r>
            <a:r>
              <a:rPr lang="tr-TR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Doğrulama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713232" y="31821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1207008" y="31455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36393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yönetimi, müşteri bazlı state.</a:t>
            </a:r>
            <a:r>
              <a:rPr lang="tr-TR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Doğrulama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78808" y="3017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343400" y="31821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837176" y="31455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61688" y="36393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yaşam döngüsü; Choreography Saga'nın </a:t>
            </a:r>
            <a:r>
              <a:rPr lang="en-US" sz="10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Doğrulama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08976" y="3017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7973568" y="31821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8467344" y="31455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991856" y="36393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işlemleri; Order ile event tabanlı </a:t>
            </a:r>
            <a:r>
              <a:rPr lang="en-US" sz="10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koordinasyon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Doğrulama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713232" y="47823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1207008" y="47457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52395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yorumları / </a:t>
            </a:r>
            <a:r>
              <a:rPr lang="en-US" sz="10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puanlama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Doğrulama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78808" y="4617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4343400" y="47823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837176" y="47457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361688" y="52395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yükleme, WebP dönüşümü, MinIO (S3 uyumlu) </a:t>
            </a:r>
            <a:r>
              <a:rPr lang="en-US" sz="10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Doğrulama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08976" y="46177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7973568" y="4782312"/>
            <a:ext cx="365760" cy="3657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8467344" y="47457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991856" y="523951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tabanlı e-posta gönderimi, RabbitMQ kuyruğundan </a:t>
            </a:r>
            <a:r>
              <a:rPr lang="en-US" sz="1000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tüketim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tr-TR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 Doğrulama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ecommerce-infra bir iş mikroservisi değildir — RabbitMQ, Elasticsearch ve Redis konteynerlerini barındıran paylaşılan altyapı projesidir.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SERVİSLER ARASI İLETİŞİM (SOA)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Senkron REST + Asenkron Outbox / Saga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SENKRON — Anlık Yanıt Gereken İstekler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234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1234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57400" y="2286000"/>
            <a:ext cx="45720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560320" y="20116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31920" y="2286000"/>
            <a:ext cx="45720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434840" y="201168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434840" y="2011680"/>
            <a:ext cx="12801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 · JWT ile doğrulanır · Gateway her isteği route eder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92240" y="1536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ASENKRON — Transactional Outbox Pattern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96596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492240" y="1965960"/>
            <a:ext cx="1051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89520" y="2212848"/>
            <a:ext cx="320040" cy="91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936992" y="196596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936992" y="196596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outbox_event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(aynı transaction)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400032" y="2212848"/>
            <a:ext cx="292608" cy="91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9710928" y="196596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710928" y="1965960"/>
            <a:ext cx="17373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OutboxEventPublisher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2000ms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 flipV="1">
            <a:off x="7589520" y="2651760"/>
            <a:ext cx="2971800" cy="91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8138160" y="2880360"/>
            <a:ext cx="1371600" cy="64008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8138160" y="2880360"/>
            <a:ext cx="1371600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(topic exchange)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9509760" y="3200400"/>
            <a:ext cx="320040" cy="91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9857232" y="288036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9857232" y="28803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 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@RabbitListener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46520" y="35473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UPDATE SKIP LOCKED ile kilitsiz toplu okuma · processed=true işaretlenir · mesaj kaybı riski sıfırlanır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77240" y="39136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CHOREOGRAPHY-BASED SAGA — Sipariş Akışı Örneği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" y="434340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822960" y="434340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23160" y="4663440"/>
            <a:ext cx="114300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2331720" y="43708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order.created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11880" y="434340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D9770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3611880" y="434340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12080" y="4663440"/>
            <a:ext cx="24688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5257800" y="43708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payment.completed / payment.failed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26680" y="4343400"/>
            <a:ext cx="18745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726680" y="4343400"/>
            <a:ext cx="18745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Service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(durum güncelle veya telafi et)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784080" y="4343400"/>
            <a:ext cx="18105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orkestratör yoktur — her servis kendi event'ini yayınlar/dinler; hata durumunda telafi edici (compensating) event ile geri alınır.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SERVİS İÇİ MİMARİ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Serviste Hexagonal Architecture (Ports &amp; Adapters)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17520" y="1463040"/>
            <a:ext cx="6035040" cy="4663440"/>
          </a:xfrm>
          <a:prstGeom prst="hexagon">
            <a:avLst/>
          </a:prstGeom>
          <a:solidFill>
            <a:srgbClr val="EEF2F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017520" y="1581912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69080" y="2286000"/>
            <a:ext cx="3931920" cy="3017520"/>
          </a:xfrm>
          <a:prstGeom prst="hexagon">
            <a:avLst/>
          </a:prstGeom>
          <a:solidFill>
            <a:srgbClr val="CCFBF1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069080" y="2423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69080" y="4709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Impl.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(port/in, port/out arayüzleri)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74920" y="3017520"/>
            <a:ext cx="1920240" cy="1554480"/>
          </a:xfrm>
          <a:prstGeom prst="hexagon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074920" y="3017520"/>
            <a:ext cx="19202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POJO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(@Entity yok, Lombok yok)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 IN çağırır)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2807208"/>
            <a:ext cx="822960" cy="347472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502920" y="452628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502920" y="452628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Listener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 IN çağırır)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flipV="1">
            <a:off x="2377440" y="4434840"/>
            <a:ext cx="822960" cy="475488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9646920" y="192024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9646920" y="1920240"/>
            <a:ext cx="19659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(PostgreSQL)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flipV="1">
            <a:off x="9006840" y="2286000"/>
            <a:ext cx="594360" cy="10515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9646920" y="333756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646920" y="3337560"/>
            <a:ext cx="19659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flipV="1">
            <a:off x="9006840" y="3703320"/>
            <a:ext cx="594360" cy="914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9646920" y="4754880"/>
            <a:ext cx="1965960" cy="731520"/>
          </a:xfrm>
          <a:prstGeom prst="roundRect">
            <a:avLst>
              <a:gd name="adj" fmla="val 75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646920" y="4754880"/>
            <a:ext cx="19659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Publisher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(Outbox)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06840" y="4251960"/>
            <a:ext cx="594360" cy="8686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2461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Port IN (arayüz)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8696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OUT (arayüz) →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kuralı: </a:t>
            </a: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adaptörler port arayüzlerine bağımlıdır, domain hiçbir şeye bağımlı değildir. Framework (Spring, JPA, RabbitMQ) yalnızca infrastructure katmanında görünür.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SERVİS İÇİ MİMARİ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Architecture — Katman Ayrımı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7863840" cy="960120"/>
          </a:xfrm>
          <a:prstGeom prst="roundRect">
            <a:avLst>
              <a:gd name="adj" fmla="val 9524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7510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· JPA Entity/Repository · Redis · RabbitMQ · MinIO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06240" y="2514600"/>
            <a:ext cx="914" cy="256032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188720" y="2770632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188720" y="2862072"/>
            <a:ext cx="6035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319125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Impl. · Port (in/out arayüzleri) · DTO mapping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3730752"/>
            <a:ext cx="914" cy="256032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2103120" y="3986784"/>
            <a:ext cx="4206240" cy="960120"/>
          </a:xfrm>
          <a:prstGeom prst="roundRect">
            <a:avLst>
              <a:gd name="adj" fmla="val 9524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2103120" y="407822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4407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/ Value Object / Exception — framework'den bağımsız POJO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49926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bağımlılık yönü (depends on)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flipH="1">
            <a:off x="6766560" y="1737360"/>
            <a:ext cx="1463040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583680" y="136171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9640" y="1554480"/>
            <a:ext cx="31089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katmanı framework bağımsız SAF POJO'dur — @Entity, @Table, Lombok içermez; getter/setter/constructor manuel yazılır.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katmanı, domain'i dışarıya port arayüzleriyle açar (Dependency Inversion) — infrastructure bu arayüzleri implemente eder, yön dışarıdan içeriye değil, tersine döner.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Controller'lar DTO mapping yapar; JPA Entity asla doğrudan HTTP yanıtına yansımaz.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 koruması JPA parameter binding ile; IDOR koruması JWT'deki userId ile request'in eşleştirilmesiyle sağlanır (Admin muaf).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DERİNLEMESİNE — MEDIA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Service — Production Seviyesinde Mimari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880360" y="1325880"/>
            <a:ext cx="6126480" cy="5029200"/>
          </a:xfrm>
          <a:prstGeom prst="hexagon">
            <a:avLst/>
          </a:prstGeom>
          <a:solidFill>
            <a:srgbClr val="EEF2F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880360" y="144475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31920" y="2240280"/>
            <a:ext cx="4023360" cy="3246120"/>
          </a:xfrm>
          <a:prstGeom prst="hexagon">
            <a:avLst/>
          </a:prstGeom>
          <a:solidFill>
            <a:srgbClr val="CCFBF1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931920" y="2377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46177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76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IN: MediaCommandUseCase, MediaQueryUseCase</a:t>
            </a:r>
            <a:endParaRPr lang="en-US" sz="7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6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OUT: MediaCommandPort, MediaQueryPort,</a:t>
            </a:r>
            <a:endParaRPr lang="en-US" sz="76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76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MediaCachePort, StoragePort, ImageConverterPort, OutboxPort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4983480" y="3063240"/>
            <a:ext cx="1920240" cy="1737360"/>
          </a:xfrm>
          <a:prstGeom prst="hexagon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83480" y="3063240"/>
            <a:ext cx="192024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MediaAsset · MediaStatus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MediaVariant · ImageBinary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domain exception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MediaController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REST endpoint · @PreAuthorize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2331720" y="2898648"/>
            <a:ext cx="777240" cy="210312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457200" y="480060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187452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ProductDeletedEventListener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product.exchange dinler (RabbitMQ)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 flipV="1">
            <a:off x="2331720" y="4754880"/>
            <a:ext cx="777240" cy="429768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9098280" y="1508760"/>
            <a:ext cx="2514600" cy="512064"/>
          </a:xfrm>
          <a:prstGeom prst="roundRect">
            <a:avLst>
              <a:gd name="adj" fmla="val 10714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9098280" y="1508760"/>
            <a:ext cx="2514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MediaPersistenceAdapter / OutboxAdapter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9098280" y="202082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media_asset + outbox_event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 flipV="1">
            <a:off x="8549640" y="1764792"/>
            <a:ext cx="502920" cy="704088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9098280" y="2441448"/>
            <a:ext cx="2514600" cy="512064"/>
          </a:xfrm>
          <a:prstGeom prst="roundRect">
            <a:avLst>
              <a:gd name="adj" fmla="val 10714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098280" y="2441448"/>
            <a:ext cx="2514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MediaRedisAdapter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9098280" y="295351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 · TTL 24 saat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 flipV="1">
            <a:off x="8549640" y="2697480"/>
            <a:ext cx="502920" cy="5029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9098280" y="3374136"/>
            <a:ext cx="2514600" cy="512064"/>
          </a:xfrm>
          <a:prstGeom prst="roundRect">
            <a:avLst>
              <a:gd name="adj" fmla="val 10714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9098280" y="3374136"/>
            <a:ext cx="2514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MinioStorageAdapter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9098280" y="3886200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 uyumlu) · public-read bucket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 flipV="1">
            <a:off x="8549640" y="3630168"/>
            <a:ext cx="502920" cy="301752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9098280" y="4306824"/>
            <a:ext cx="2514600" cy="512064"/>
          </a:xfrm>
          <a:prstGeom prst="roundRect">
            <a:avLst>
              <a:gd name="adj" fmla="val 10714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9098280" y="4306824"/>
            <a:ext cx="2514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WebpImageConverter</a:t>
            </a:r>
            <a:endParaRPr lang="en-US" sz="830" dirty="0"/>
          </a:p>
        </p:txBody>
      </p:sp>
      <p:sp>
        <p:nvSpPr>
          <p:cNvPr id="33" name="Text 31"/>
          <p:cNvSpPr/>
          <p:nvPr/>
        </p:nvSpPr>
        <p:spPr>
          <a:xfrm>
            <a:off x="9098280" y="48188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scrimage-webp · 3 varyant paralel (thumb/medium/original)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 flipV="1">
            <a:off x="8549640" y="4562856"/>
            <a:ext cx="502920" cy="10058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9098280" y="5239512"/>
            <a:ext cx="2514600" cy="512064"/>
          </a:xfrm>
          <a:prstGeom prst="roundRect">
            <a:avLst>
              <a:gd name="adj" fmla="val 10714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9098280" y="5239512"/>
            <a:ext cx="25146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OutboxEventPublisher</a:t>
            </a:r>
            <a:endParaRPr lang="en-US" sz="830" dirty="0"/>
          </a:p>
        </p:txBody>
      </p:sp>
      <p:sp>
        <p:nvSpPr>
          <p:cNvPr id="37" name="Text 35"/>
          <p:cNvSpPr/>
          <p:nvPr/>
        </p:nvSpPr>
        <p:spPr>
          <a:xfrm>
            <a:off x="9098280" y="575157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@Scheduled 2000ms → RabbitMQ media.exchange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8549640" y="5394960"/>
            <a:ext cx="502920" cy="10058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DERİNLEMESİNE — MEDIA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Görsel Yükleme Akışı — Sequence Diyagramı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" y="14173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144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Kullanıcısı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0" cy="3063240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645920" y="14173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164592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MediaController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31720" y="1965960"/>
            <a:ext cx="0" cy="3063240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657600" y="14173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5760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MediaCommandUseCaseImpl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0" cy="3063240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852160" y="14173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85216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WebpImageConverter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MinioStorageAdapter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37960" y="1965960"/>
            <a:ext cx="0" cy="3063240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09244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(media_asset +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outbox_event)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778240" y="1965960"/>
            <a:ext cx="0" cy="3063240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9875520" y="141732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987552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MediaRedisAdapter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561320" y="1965960"/>
            <a:ext cx="0" cy="3063240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77240" y="2286000"/>
            <a:ext cx="15544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77240" y="19933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/images (multipart, JWT)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31720" y="2788920"/>
            <a:ext cx="20116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2331720" y="2496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uploadProductImage()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43400" y="3291840"/>
            <a:ext cx="21945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343400" y="2999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magic byte doğrula → 3 varyant WebP'ye çevir (paralel) → MinIO'ya yaz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43400" y="3794760"/>
            <a:ext cx="443484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343400" y="350215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media_asset INSERT + outbox_event INSERT (aynı transaction)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43400" y="4297680"/>
            <a:ext cx="621792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343400" y="400507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media:product:{id} cache invalidate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 flipH="1">
            <a:off x="777240" y="4800600"/>
            <a:ext cx="15544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77240" y="4507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201 Created — UploadMediaResponse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5349240"/>
            <a:ext cx="11292840" cy="1051560"/>
          </a:xfrm>
          <a:prstGeom prst="roundRect">
            <a:avLst>
              <a:gd name="adj" fmla="val 6957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40080" y="5468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ASENKRON DEVAM: 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" y="5742432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OutboxEventPublisher (2sn'de bir) → outbox_event'ten okur → RabbitMQ media.exchange'e MediaUploadedEvent basar → Product Service dinler → kendi Elasticsearch read-model'ine imageUrl/thumbnailUrl alanlarını denormalize eder (ürün liste/arama ekranı N+1 sorgu yapmadan görselli sonuç döner).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91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DERİNLEMESİNE — MEDIA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5204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Uçtan Uca Component Diyagramı (Frontend Dahil)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3246120" cy="5074920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mfe-media-gallery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:6008 · Module Federation remote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94360" y="199339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expose/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1554480" y="199339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ProductGallery · ProductImageUpload · useProductImageUpload</a:t>
            </a:r>
            <a:endParaRPr lang="en-US" sz="740" dirty="0"/>
          </a:p>
        </p:txBody>
      </p:sp>
      <p:sp>
        <p:nvSpPr>
          <p:cNvPr id="10" name="Shape 8"/>
          <p:cNvSpPr/>
          <p:nvPr/>
        </p:nvSpPr>
        <p:spPr>
          <a:xfrm>
            <a:off x="594360" y="259689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94360" y="259689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1554480" y="259689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ProductImageUploader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594360" y="299923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94360" y="29992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1554480" y="299923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ImageDropzone · MainImage · ThumbnailList · SkeletonGallery · PlaceholderBox · UploadPreviewList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594360" y="380390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94360" y="38039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1554480" y="380390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useProductMedia · useUploadProductImages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594360" y="440740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94360" y="440740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1554480" y="440740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4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mediaApi · client · endpoints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594360" y="5074920"/>
            <a:ext cx="2880360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94360" y="51663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2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/api/v1/media/products/{id}/images (public, boş dizi dönebilir)</a:t>
            </a:r>
            <a:endParaRPr lang="en-US" sz="72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20" dirty="0">
                <a:solidFill>
                  <a:srgbClr val="5B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.../images (ROLE_STORE, multipart, storeId JWT'den)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94360" y="58521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6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storeId istemciden GÖNDERİLMEZ — IDOR koruması backend'de JWT'den çıkarılır.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3657600" y="3840480"/>
            <a:ext cx="5943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4279392" y="3520440"/>
            <a:ext cx="1234440" cy="68580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279392" y="3520440"/>
            <a:ext cx="1234440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5513832" y="3840480"/>
            <a:ext cx="429768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977640" y="42519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multipart / JSON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JWT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943600" y="1051560"/>
            <a:ext cx="5806440" cy="4160520"/>
          </a:xfrm>
          <a:prstGeom prst="roundRect">
            <a:avLst>
              <a:gd name="adj" fmla="val 1758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126480" y="11430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media-service (backend) — Hexagonal Architecture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1481328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126480" y="1481328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MediaController · 6 REST endpoint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915400" y="1481328"/>
            <a:ext cx="26517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8915400" y="1481328"/>
            <a:ext cx="2651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ProductDeletedEventListener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52360" y="1847088"/>
            <a:ext cx="914" cy="23774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10241280" y="1847088"/>
            <a:ext cx="914" cy="23774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6126480" y="2103120"/>
            <a:ext cx="54406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126480" y="2103120"/>
            <a:ext cx="5440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IN: MediaCommandUseCase · MediaQueryUseCase   →   Impl: MediaCommandUseCaseImpl · MediaQueryUseCaseImpl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8851392" y="2468880"/>
            <a:ext cx="914" cy="23774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6126480" y="2724912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6126480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MediaCommandPort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7955280" y="2724912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7955280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MediaQueryPort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9784080" y="2724912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9784080" y="2724912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MediaCachePort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6126480" y="312724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612648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StoragePort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7955280" y="312724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795528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ImageConverterPort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9784080" y="3127248"/>
            <a:ext cx="1737360" cy="365760"/>
          </a:xfrm>
          <a:prstGeom prst="roundRect">
            <a:avLst>
              <a:gd name="adj" fmla="val 15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9784080" y="3127248"/>
            <a:ext cx="1737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OutboxPort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8851392" y="3566160"/>
            <a:ext cx="914" cy="228600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54" name="Shape 52"/>
          <p:cNvSpPr/>
          <p:nvPr/>
        </p:nvSpPr>
        <p:spPr>
          <a:xfrm>
            <a:off x="6126480" y="3813048"/>
            <a:ext cx="1088136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5" name="Text 53"/>
          <p:cNvSpPr/>
          <p:nvPr/>
        </p:nvSpPr>
        <p:spPr>
          <a:xfrm>
            <a:off x="6126480" y="3813048"/>
            <a:ext cx="108813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MediaPersistenceAdapter</a:t>
            </a:r>
            <a:endParaRPr lang="en-US" sz="660" dirty="0"/>
          </a:p>
        </p:txBody>
      </p:sp>
      <p:sp>
        <p:nvSpPr>
          <p:cNvPr id="56" name="Shape 54"/>
          <p:cNvSpPr/>
          <p:nvPr/>
        </p:nvSpPr>
        <p:spPr>
          <a:xfrm>
            <a:off x="7269480" y="3813048"/>
            <a:ext cx="1088136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7" name="Text 55"/>
          <p:cNvSpPr/>
          <p:nvPr/>
        </p:nvSpPr>
        <p:spPr>
          <a:xfrm>
            <a:off x="7269480" y="3813048"/>
            <a:ext cx="108813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MediaRedisAdapter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8412480" y="3813048"/>
            <a:ext cx="1088136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9" name="Text 57"/>
          <p:cNvSpPr/>
          <p:nvPr/>
        </p:nvSpPr>
        <p:spPr>
          <a:xfrm>
            <a:off x="8412480" y="3813048"/>
            <a:ext cx="108813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MinioStorageAdapter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9555480" y="3813048"/>
            <a:ext cx="1088136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1" name="Text 59"/>
          <p:cNvSpPr/>
          <p:nvPr/>
        </p:nvSpPr>
        <p:spPr>
          <a:xfrm>
            <a:off x="9555480" y="3813048"/>
            <a:ext cx="108813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WebpImageConverter</a:t>
            </a:r>
            <a:endParaRPr lang="en-US" sz="660" dirty="0"/>
          </a:p>
        </p:txBody>
      </p:sp>
      <p:sp>
        <p:nvSpPr>
          <p:cNvPr id="62" name="Shape 60"/>
          <p:cNvSpPr/>
          <p:nvPr/>
        </p:nvSpPr>
        <p:spPr>
          <a:xfrm>
            <a:off x="10698480" y="3813048"/>
            <a:ext cx="1088136" cy="566928"/>
          </a:xfrm>
          <a:prstGeom prst="roundRect">
            <a:avLst>
              <a:gd name="adj" fmla="val 9677"/>
            </a:avLst>
          </a:prstGeom>
          <a:solidFill>
            <a:srgbClr val="D9770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3" name="Text 61"/>
          <p:cNvSpPr/>
          <p:nvPr/>
        </p:nvSpPr>
        <p:spPr>
          <a:xfrm>
            <a:off x="10698480" y="3813048"/>
            <a:ext cx="1088136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OutboxAdapter /</a:t>
            </a:r>
            <a:endParaRPr lang="en-US" sz="660" dirty="0"/>
          </a:p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OutboxEventPublisher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411480" y="5623560"/>
            <a:ext cx="2761488" cy="77724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411480" y="5623560"/>
            <a:ext cx="27614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media_asset + outbox_event</a:t>
            </a:r>
            <a:endParaRPr lang="en-US" sz="830" dirty="0"/>
          </a:p>
        </p:txBody>
      </p:sp>
      <p:sp>
        <p:nvSpPr>
          <p:cNvPr id="67" name="Shape 65"/>
          <p:cNvSpPr/>
          <p:nvPr/>
        </p:nvSpPr>
        <p:spPr>
          <a:xfrm>
            <a:off x="3264408" y="5623560"/>
            <a:ext cx="2761488" cy="77724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3264408" y="5623560"/>
            <a:ext cx="27614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cache-aside · TTL 24h</a:t>
            </a:r>
            <a:endParaRPr lang="en-US" sz="830" dirty="0"/>
          </a:p>
        </p:txBody>
      </p:sp>
      <p:sp>
        <p:nvSpPr>
          <p:cNvPr id="69" name="Shape 67"/>
          <p:cNvSpPr/>
          <p:nvPr/>
        </p:nvSpPr>
        <p:spPr>
          <a:xfrm>
            <a:off x="6117336" y="5623560"/>
            <a:ext cx="2761488" cy="77724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6117336" y="5623560"/>
            <a:ext cx="27614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(S3)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public-read bucket</a:t>
            </a:r>
            <a:endParaRPr lang="en-US" sz="830" dirty="0"/>
          </a:p>
        </p:txBody>
      </p:sp>
      <p:sp>
        <p:nvSpPr>
          <p:cNvPr id="71" name="Shape 69"/>
          <p:cNvSpPr/>
          <p:nvPr/>
        </p:nvSpPr>
        <p:spPr>
          <a:xfrm>
            <a:off x="8970264" y="5623560"/>
            <a:ext cx="2761488" cy="777240"/>
          </a:xfrm>
          <a:prstGeom prst="roundRect">
            <a:avLst>
              <a:gd name="adj" fmla="val 7059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Text 70"/>
          <p:cNvSpPr/>
          <p:nvPr/>
        </p:nvSpPr>
        <p:spPr>
          <a:xfrm>
            <a:off x="8970264" y="5623560"/>
            <a:ext cx="27614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media.exchange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 flipH="1">
            <a:off x="1828800" y="4379976"/>
            <a:ext cx="4846320" cy="119786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4" name="Shape 72"/>
          <p:cNvSpPr/>
          <p:nvPr/>
        </p:nvSpPr>
        <p:spPr>
          <a:xfrm flipH="1">
            <a:off x="4572000" y="4379976"/>
            <a:ext cx="3200400" cy="119786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5" name="Shape 73"/>
          <p:cNvSpPr/>
          <p:nvPr/>
        </p:nvSpPr>
        <p:spPr>
          <a:xfrm flipH="1">
            <a:off x="7315200" y="4379976"/>
            <a:ext cx="1554480" cy="119786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6" name="Shape 74"/>
          <p:cNvSpPr/>
          <p:nvPr/>
        </p:nvSpPr>
        <p:spPr>
          <a:xfrm>
            <a:off x="9966960" y="4379976"/>
            <a:ext cx="91440" cy="119786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7" name="Shape 75"/>
          <p:cNvSpPr/>
          <p:nvPr/>
        </p:nvSpPr>
        <p:spPr>
          <a:xfrm flipV="1">
            <a:off x="10058400" y="1847088"/>
            <a:ext cx="182880" cy="3776472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78" name="Text 76"/>
          <p:cNvSpPr/>
          <p:nvPr/>
        </p:nvSpPr>
        <p:spPr>
          <a:xfrm>
            <a:off x="10561320" y="3840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6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product.deleted</a:t>
            </a:r>
            <a:endParaRPr lang="en-US" sz="660" dirty="0"/>
          </a:p>
          <a:p>
            <a:pPr marL="0" indent="0" algn="l">
              <a:buNone/>
            </a:pPr>
            <a:r>
              <a:rPr lang="en-US" sz="66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(async event)</a:t>
            </a:r>
            <a:endParaRPr lang="en-US" sz="660" dirty="0"/>
          </a:p>
        </p:txBody>
      </p:sp>
      <p:sp>
        <p:nvSpPr>
          <p:cNvPr id="79" name="Text 77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27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DERİNLEMESİNE — MEDIA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Prensipleri — Somut Örneklerle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452360" cy="896112"/>
          </a:xfrm>
          <a:prstGeom prst="roundRect">
            <a:avLst>
              <a:gd name="adj" fmla="val 8163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13232" y="1581912"/>
            <a:ext cx="566928" cy="566928"/>
          </a:xfrm>
          <a:prstGeom prst="hexagon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13232" y="15819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4904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sınıf tek iş yapar: WebpImageConverter sadece dönüştürür, MinioStorageAdapter sadece depolar. Komut/sorgu tarafı bile ayrı sınıflarda: MediaCommandUseCaseImpl ↔ MediaQueryUseCaseImpl (CQRS ile örtüşür).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7452360" cy="896112"/>
          </a:xfrm>
          <a:prstGeom prst="roundRect">
            <a:avLst>
              <a:gd name="adj" fmla="val 8163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13232" y="2532888"/>
            <a:ext cx="566928" cy="566928"/>
          </a:xfrm>
          <a:prstGeom prst="hexagon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13232" y="2532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44144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63040" y="2706624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StoragePort arayüzü sayesinde MinIO'dan AWS S3'e geçiş yeni bir adapter sınıfı eklemekle yapılır — MediaCommandUseCaseImpl'in tek satırı değişmez.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7452360" cy="896112"/>
          </a:xfrm>
          <a:prstGeom prst="roundRect">
            <a:avLst>
              <a:gd name="adj" fmla="val 8163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13232" y="3483864"/>
            <a:ext cx="566928" cy="566928"/>
          </a:xfrm>
          <a:prstGeom prst="hexagon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713232" y="3483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Liskov Substitution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63040" y="3657600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ImageConverterPort'un herhangi bir implementasyonu (bugün WebpImageConverter) kullanım yerinde birebir yerine geçebilir; use case, port sözleşmesinden fazlasını varsaymaz.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270248"/>
            <a:ext cx="7452360" cy="896112"/>
          </a:xfrm>
          <a:prstGeom prst="roundRect">
            <a:avLst>
              <a:gd name="adj" fmla="val 8163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713232" y="4434840"/>
            <a:ext cx="566928" cy="566928"/>
          </a:xfrm>
          <a:prstGeom prst="hexagon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713232" y="4434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3434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Segregation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63040" y="4608576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büyük "repository" arayüzü yok — 6 küçük, odaklı port: MediaCommandPort, MediaQueryPort, MediaCachePort, StoragePort, ImageConverterPort, OutboxPort.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5221224"/>
            <a:ext cx="7452360" cy="896112"/>
          </a:xfrm>
          <a:prstGeom prst="roundRect">
            <a:avLst>
              <a:gd name="adj" fmla="val 8163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713232" y="5385816"/>
            <a:ext cx="566928" cy="566928"/>
          </a:xfrm>
          <a:prstGeom prst="hexagon">
            <a:avLst/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713232" y="5385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529437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Inversion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463040" y="5559552"/>
            <a:ext cx="64465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MediaCommandUseCaseImpl somut bir adapter'a değil, port arayüzüne bağımlıdır; Spring DI adapter'ı runtime'da enjekte eder — bağımlılık yönü içeriden dışarıya değil, dışarıdan içeriye tersine döner.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83880" y="141732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366760" y="1536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İddia Değil, Zorunluluk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66760" y="1847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module/HexagonalArchitectureTest.java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66760" y="214884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ArchUnit ile yazılmış bir MİMARİ TESTİ: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@AnalyzeClasses(packages =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"com.mediaservice")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örn. kural: ports_ShouldBeInterfaces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66760" y="37947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kural ihlal edilirse (örn. bir port artık interface değil, sızdırılmış bir implementasyon detayıysa) BUILD KIRILIR — SOLID/Hexagonal uyumu code review'a bırakılmaz, CI'da otomatik doğrulanır.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8366760" y="5212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Detaylar: CI/CD &amp; Test Piramidi slaydı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DERİNLEMESİNE — MEDIA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Storage Mimarisi — StoragePort Soyutlaması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depolama, Media Service'in İÇİNDE tek bir port arayüzü arkasına saklanmış bir yeteneğidir — ayrı bir mikroservis değildir.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0" y="2331720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1828800" y="2331720"/>
            <a:ext cx="2834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MediaCommandUseCaseImpl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(application layer)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3246120" y="2971800"/>
            <a:ext cx="914" cy="3200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1645920" y="333756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0B1E3D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645920" y="33375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StoragePort  «interface»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application/port/out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3931920"/>
            <a:ext cx="914" cy="3200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069080" y="3931920"/>
            <a:ext cx="914" cy="32004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508760" y="39593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39593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yarın (opsiyonel)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54480" y="429768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0F766E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17373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MinioStorageAdapter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91840" y="4297680"/>
            <a:ext cx="1737360" cy="594360"/>
          </a:xfrm>
          <a:prstGeom prst="roundRect">
            <a:avLst>
              <a:gd name="adj" fmla="val 923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291840" y="429768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S3StorageAdapter</a:t>
            </a:r>
            <a:endParaRPr lang="en-US" sz="780" dirty="0"/>
          </a:p>
          <a:p>
            <a:pPr marL="0" indent="0" algn="ctr">
              <a:buNone/>
            </a:pPr>
            <a:r>
              <a:rPr lang="en-US" sz="7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(henüz yok)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2423160" y="4892040"/>
            <a:ext cx="914" cy="3200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069080" y="4892040"/>
            <a:ext cx="914" cy="32004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1554480" y="52578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554480" y="525780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(self-hosted)</a:t>
            </a:r>
            <a:endParaRPr lang="en-US" sz="740" dirty="0"/>
          </a:p>
          <a:p>
            <a:pPr marL="0" indent="0" algn="ctr">
              <a:buNone/>
            </a:pPr>
            <a:r>
              <a:rPr lang="en-US" sz="7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S3-uyumlu API · :9000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291840" y="52578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3291840" y="52578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740" dirty="0"/>
          </a:p>
          <a:p>
            <a:pPr marL="0" indent="0" algn="ctr">
              <a:buNone/>
            </a:pPr>
            <a:r>
              <a:rPr lang="en-US" sz="74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(gerçek bulut sağlayıcı)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Geçiş: yalnızca bu ADAPTER SINIFI değişir — use case, domain ve controller kodunun tek satırı bile değişmez (Dependency Inversion'ın somut kazancı).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155448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629400" y="16459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Yükleme Akışı → Depolama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196596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93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WebpImageConverter → 3 varyant paralel üretir (thumb/medium/original)</a:t>
            </a:r>
            <a:endParaRPr lang="en-US" sz="93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93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Her varyant için StoragePort.upload(key, bytes) çağrılır</a:t>
            </a:r>
            <a:endParaRPr lang="en-US" sz="93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93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MinioStorageAdapter → bucket'a yazar: products/{productId}/{assetId}_{varyant}.webp</a:t>
            </a:r>
            <a:endParaRPr lang="en-US" sz="93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93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Public URL kurulur: {media.public-base-url}/{storageKey}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6446520" y="4069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CCFBF1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629400" y="416052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Bucket Kurulumu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29400" y="440740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MinioBucketInitializer (@PostConstruct) — servis her açıldığında shopbridge-media bucket'ını kontrol eder/oluşturur ve public-read policy uygular. Manuel adım gerekmez.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446520" y="54406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629400" y="5513832"/>
            <a:ext cx="4846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Soyutlama (StoragePort)?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5742432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86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yok · testte gerçek MinIO/S3 yerine mock port kullanılabilir · dev'de ücretsiz self-hosted, prod'da opsiyonel yönetilen bulut (AWS S3) — karar tek bir dosyaya hapsedilmiş.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MİMARİSİ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Micro-Frontend + Module Federation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08960" y="306324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3108960" y="3063240"/>
            <a:ext cx="20116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(shopbridge-dashboard-shell)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337560" y="176022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337560" y="176022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mfe-products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:6005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 flipV="1">
            <a:off x="4114800" y="2011680"/>
            <a:ext cx="914" cy="150876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5356889" y="25146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356889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mfe-product-detail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:6007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 flipV="1">
            <a:off x="4114800" y="2766060"/>
            <a:ext cx="2019329" cy="75438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356889" y="40233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356889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mfe-orders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:6001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114800" y="3520440"/>
            <a:ext cx="2019329" cy="75438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337560" y="47777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3337560" y="477774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mfe-reviews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:6004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114800" y="3520440"/>
            <a:ext cx="914" cy="150876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1318231" y="40233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318231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mfe-products-create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:6006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 flipH="1">
            <a:off x="2095471" y="3520440"/>
            <a:ext cx="2019329" cy="75438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1318231" y="251460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1318231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mfe-media-gallery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:—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 flipH="1" flipV="1">
            <a:off x="2095471" y="2766060"/>
            <a:ext cx="2019329" cy="754380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02920" y="5074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8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kesikli çizgi = Module</a:t>
            </a:r>
            <a:endParaRPr lang="en-US" sz="780" dirty="0"/>
          </a:p>
          <a:p>
            <a:pPr marL="0" indent="0" algn="l">
              <a:buNone/>
            </a:pPr>
            <a:r>
              <a:rPr lang="en-US" sz="78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(remoteEntry.js)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200400" y="5715000"/>
            <a:ext cx="1828800" cy="77724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3200400" y="5715000"/>
            <a:ext cx="18288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0" y="4023360"/>
            <a:ext cx="914" cy="16459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212080" y="50749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remote kendi axios</a:t>
            </a:r>
            <a:endParaRPr lang="en-US" sz="780" dirty="0"/>
          </a:p>
          <a:p>
            <a:pPr marL="0" indent="0">
              <a:buNone/>
            </a:pPr>
            <a:r>
              <a:rPr lang="en-US" sz="78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JWT ile DOĞRUDAN çağırır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7589520" y="1417320"/>
            <a:ext cx="4069080" cy="2011680"/>
          </a:xfrm>
          <a:prstGeom prst="roundRect">
            <a:avLst>
              <a:gd name="adj" fmla="val 3636"/>
            </a:avLst>
          </a:prstGeom>
          <a:solidFill>
            <a:srgbClr val="FEF3C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7772400" y="15179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Düzeltmesi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0" y="1810512"/>
            <a:ext cx="3703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Orijinal not: “API Gateway sadece shell'e bağlanır, diğer component'lere shell istek atar.” Gerçek kodda (üretim prompt'larında doğrulandı): Shell sadece session/token ve navigasyonu sağlar; her remote, API Gateway'e kendi axios client'ı ve JWT interceptor'ıyla doğrudan bağlanır — shell proxy yapmaz.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7589520" y="3611880"/>
            <a:ext cx="4069080" cy="2651760"/>
          </a:xfrm>
          <a:prstGeom prst="roundRect">
            <a:avLst>
              <a:gd name="adj" fmla="val 2759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772400" y="3721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İç Katmanları (Feature-Sliced)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772400" y="40690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7772400" y="40690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61120" y="406908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— axios instance + endpoint sözleşmesi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7772400" y="45994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7772400" y="4599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hooks/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961120" y="459943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useQuery / useMutation (TanStack Query)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772400" y="512978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7772400" y="512978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961120" y="5129784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— yalnızca prop alır, veri çekmez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7772400" y="566013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7772400" y="56601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expose/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961120" y="566013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— federation ile dışa açılan giriş noktası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MİMARİSİ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CDN-Ready Statik Asset Dağıtımı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Henüz bir domain / Cloudflare hesabı yok — bu yüzden CDN, origin (nginx) seviyesinde "tak-çalıştır" hazır hale getirildi. Domain alınınca CDN sadece bu origin'in önüne eklenir, ekstra config gerekmez.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297680" cy="32918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→ Yarın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2468880"/>
            <a:ext cx="411480" cy="914"/>
          </a:xfrm>
          <a:prstGeom prst="line">
            <a:avLst/>
          </a:prstGeom>
          <a:noFill/>
          <a:ln w="19050">
            <a:solidFill>
              <a:srgbClr val="D8DEE8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2651760" y="214884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651760" y="2148840"/>
            <a:ext cx="164592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(domain alınınca)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 flipH="1">
            <a:off x="777240" y="3246120"/>
            <a:ext cx="342900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777240" y="342900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35204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— nginx (13 paket: shell + 11 remote + admin)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5780" y="4716625"/>
            <a:ext cx="4343400" cy="1082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yok iken istemci doğrudan origin'e gider — header'lar zaten CDN-uyumlu.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74920" y="1737360"/>
            <a:ext cx="6309360" cy="3291840"/>
          </a:xfrm>
          <a:prstGeom prst="roundRect">
            <a:avLst>
              <a:gd name="adj" fmla="val 2222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257800" y="18288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Cache-Control Kuralları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57800" y="217627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remoteEntry.js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7269480" y="2176272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7269480" y="21762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no-cache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9372600" y="2176272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6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Federation giriş noktası — dosya adı hash'lenmez, cache'lenirse shell yeni deploy'u göremez.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5257800" y="31089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Hash'li JS/CSS/görsel</a:t>
            </a:r>
            <a:endParaRPr lang="en-US" sz="830" dirty="0"/>
          </a:p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(örn. index-8Tg_Xii-.js)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7269480" y="310896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7269480" y="3108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max-age=31536000,</a:t>
            </a:r>
            <a:endParaRPr lang="en-US" sz="730" dirty="0"/>
          </a:p>
        </p:txBody>
      </p:sp>
      <p:sp>
        <p:nvSpPr>
          <p:cNvPr id="25" name="Text 23"/>
          <p:cNvSpPr/>
          <p:nvPr/>
        </p:nvSpPr>
        <p:spPr>
          <a:xfrm>
            <a:off x="7269480" y="34930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immutable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9372600" y="310896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6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değişince Vite dosya adını da değiştirir — aynı ad sonsuza kadar güvenle cache'lenebilir.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5257800" y="404164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7269480" y="4041648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7269480" y="40416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no-cache, must-revalidate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9372600" y="4041648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76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en güncel (hash'li) asset referanslarını göstermeli.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KATMANI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Veritabanı Mimarisi — Neden PostgreSQL?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Database-per-service: 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mikroservis kendi PostgreSQL örneğine yazar; karmaşık cross-service JOIN'ler mimari olarak imkânsız hale getirilir, veri sahipliği netleşir.</a:t>
            </a:r>
            <a:endParaRPr lang="en-US" sz="1150" dirty="0"/>
          </a:p>
          <a:p>
            <a:pPr>
              <a:lnSpc>
                <a:spcPct val="108000"/>
              </a:lnSpc>
              <a:spcAft>
                <a:spcPts val="200"/>
              </a:spcAft>
              <a:buSzPct val="100000"/>
            </a:pP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PostgreSQL, </a:t>
            </a:r>
            <a:r>
              <a:rPr lang="en-US" sz="115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NoSQL</a:t>
            </a:r>
            <a:r>
              <a:rPr lang="tr-TR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değil</a:t>
            </a: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prensipleri birebir takip ediliyor (Atomicity/Consistency/Isolation/Durability); ilişkisel bütünlük ve kurumsal olgunluk bu projede MongoDB gibi bir NoSQL'in getirdiği şema esnekliğine tercih edildi — okuma tarafındaki esneklik ihtiyacı zaten Elasticsearch (CQRS) ile </a:t>
            </a:r>
            <a:r>
              <a:rPr lang="en-US" sz="11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karşılanıyor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tr-TR" sz="115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endParaRPr lang="tr-TR" sz="1150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tr-TR" sz="1150" b="1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Indecies</a:t>
            </a:r>
            <a:endParaRPr lang="tr-TR" sz="1150" b="1" dirty="0">
              <a:solidFill>
                <a:srgbClr val="0F17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tr-TR" sz="1150" dirty="0"/>
              <a:t>Kompozit indeksler (</a:t>
            </a:r>
            <a:r>
              <a:rPr lang="tr-TR" sz="1150" dirty="0" err="1"/>
              <a:t>product_id+status+sort_order</a:t>
            </a:r>
            <a:r>
              <a:rPr lang="tr-TR" sz="1150" dirty="0"/>
              <a:t>, </a:t>
            </a:r>
            <a:r>
              <a:rPr lang="tr-TR" sz="1150" dirty="0" err="1"/>
              <a:t>store_id</a:t>
            </a:r>
            <a:r>
              <a:rPr lang="tr-TR" sz="1150" dirty="0"/>
              <a:t>, </a:t>
            </a:r>
            <a:r>
              <a:rPr lang="tr-TR" sz="1150" dirty="0" err="1"/>
              <a:t>processed+created_at</a:t>
            </a:r>
            <a:r>
              <a:rPr lang="tr-TR" sz="1150" dirty="0"/>
              <a:t>) hem </a:t>
            </a:r>
            <a:r>
              <a:rPr lang="tr-TR" sz="1150" dirty="0" err="1"/>
              <a:t>public</a:t>
            </a:r>
            <a:r>
              <a:rPr lang="tr-TR" sz="1150" dirty="0"/>
              <a:t> okuma yolunu hem </a:t>
            </a:r>
            <a:r>
              <a:rPr lang="tr-TR" sz="1150" dirty="0" err="1"/>
              <a:t>outbox</a:t>
            </a:r>
            <a:r>
              <a:rPr lang="tr-TR" sz="1150" dirty="0"/>
              <a:t> </a:t>
            </a:r>
            <a:r>
              <a:rPr lang="tr-TR" sz="1150" dirty="0" err="1"/>
              <a:t>polling</a:t>
            </a:r>
            <a:r>
              <a:rPr lang="tr-TR" sz="1150" dirty="0"/>
              <a:t> sorgusunu </a:t>
            </a:r>
            <a:r>
              <a:rPr lang="tr-TR" sz="1150" dirty="0" err="1"/>
              <a:t>index-only</a:t>
            </a:r>
            <a:r>
              <a:rPr lang="tr-TR" sz="1150" dirty="0"/>
              <a:t> taramaya indirger.</a:t>
            </a:r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Locking: 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tablolarda version (@Version) kolonu — örn. media_asset.version — eşzamanlı güncellemelerde "lost update" riskini DB seviyesinde </a:t>
            </a:r>
            <a:r>
              <a:rPr lang="en-US" sz="1150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engeller</a:t>
            </a: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tr-TR" sz="1150" dirty="0"/>
          </a:p>
          <a:p>
            <a:pPr>
              <a:lnSpc>
                <a:spcPct val="108000"/>
              </a:lnSpc>
              <a:spcAft>
                <a:spcPts val="200"/>
              </a:spcAft>
              <a:buSzPct val="100000"/>
            </a:pP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kullanımı: </a:t>
            </a:r>
            <a:endParaRPr lang="en-US" sz="1150" dirty="0"/>
          </a:p>
          <a:p>
            <a:pPr marL="228600" indent="-2286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ömürlü, sık tekrarlanan public okuma sorgularında tablo yerine view — media-service'teki v_media_asset_public bunun somut örneği: yalnızca ACTIVE satırları ve public-safe kolonları döner, store_id/version gibi iç alanları okuma yolundan tamamen gizler (bellek + erişim yüzeyi küçülür).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355080" y="141732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537960" y="153619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Trigger Örneği — product servisi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537960" y="182880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NEW.price &lt; 0 THEN RAISE EXCEPTION ...;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NEW.id IS DISTINCT FROM OLD.id THEN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RAISE EXCEPTION 'products.id degistirilemez.';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NEW.store_id IS DISTINCT FROM OLD.store_id THEN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RAISE EXCEPTION '... baska magazaya devredilemez.';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37960" y="29260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AE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SQL injection değil (JPA zaten parametre bindingli) — uygulama katmanını bypass eden bir çağırıcıya (bug, kompromize servis, doğrudan DB erişimi) karşı DB seviyesinde son savunma hattı. Masum kullanıcı girdisi (name, comment) hiç kısıtlanmadı.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55080" y="393192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537960" y="404164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&amp;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4315968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servis için Flyway migration (V1__initial_schema, V2__security_triggers gibi versiyonlanmış dosyalar).</a:t>
            </a:r>
            <a:endParaRPr lang="en-US" sz="9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script'leri idempotent yazıldı (CREATE OR REPLACE FUNCTION + DROP TRIGGER IF EXISTS) — spring.sql.init.mode=always ile her başlangıçta güvenle yeniden çalışır.</a:t>
            </a:r>
            <a:endParaRPr lang="en-US" sz="9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product-service ve auth-service testlerinde H2 in-memory (jdbc:h2:mem, MODE=PostgreSQL) kullanılır — Docker'sız, hızlı, tek seferlik veri yazan izole testler. Diğer servisler (media, payment, notification, cart, order, review) gerçek Postgres için Testcontainers kullanır.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KATMANI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Diyagramı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 — Fiziksel Şema (gerçek migration'dan)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432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media_asset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112264"/>
            <a:ext cx="246888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(PK)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 UUID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store_id UUID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 / thumb_url / original_url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storage_key* VARCHAR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content_type, size_bytes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width, height, sort_order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is_primary BOOLEAN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VARCHAR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 BIGINT  ← optimistic lock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0" y="1783080"/>
            <a:ext cx="26517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0B1E3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0B1E3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outbox_event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94760" y="2112264"/>
            <a:ext cx="2377440" cy="1947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UUID (PK)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aggregate_type, aggregate_id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event_type, routing_key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TEXT (jsonb)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processed BOOLEAN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created_at, processed_at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2926080"/>
            <a:ext cx="347472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246120" y="2651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422452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7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uq_media_asset_primary: partial unique index (product_id) WHERE is_primary=true — “ürün başına tek primary görsel” invaryantı DB seviyesinde garanti edilir.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6629400" y="1417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Genelinde Mantıksal Varlık Haritası (FK yok — servisler bağımsız DB)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29400" y="17830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629400" y="17830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55280" y="17830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Store / Customer / Admin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9400" y="235915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629400" y="2359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955280" y="23591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Review (kopya)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23760" y="2167128"/>
            <a:ext cx="0" cy="192024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629400" y="2935224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629400" y="29352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55280" y="293522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CartItem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23760" y="2743200"/>
            <a:ext cx="0" cy="192024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6629400" y="3511296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629400" y="35112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955280" y="35112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OrderItem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23760" y="3319272"/>
            <a:ext cx="0" cy="192024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629400" y="408736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629400" y="40873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55280" y="40873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3895344"/>
            <a:ext cx="0" cy="192024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629400" y="466344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629400" y="46634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55280" y="46634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23760" y="4471416"/>
            <a:ext cx="0" cy="192024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6629400" y="5239512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6629400" y="52395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955280" y="52395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MediaAsset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23760" y="5047488"/>
            <a:ext cx="0" cy="192024"/>
          </a:xfrm>
          <a:prstGeom prst="line">
            <a:avLst/>
          </a:prstGeom>
          <a:noFill/>
          <a:ln w="12700">
            <a:solidFill>
              <a:srgbClr val="D8DEE8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6629400" y="57150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İlişkiler productId / storeId / customerId gibi UUID alanları üzerinden “mantıksal” referanstır; gerçek FK yoktur. Tutarlılık, senkron doğrulama yerine event (Outbox → RabbitMQ) ile sağlanır.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KATMANI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Cache-Aside + Elasticsearch CQRS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Cache-Aside Stratejisi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2212848"/>
            <a:ext cx="4114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2697480" y="1828800"/>
            <a:ext cx="1280160" cy="77724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2697480" y="182880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V="1">
            <a:off x="4023360" y="1828800"/>
            <a:ext cx="411480" cy="18288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206240" y="1554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→ dön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023360" y="2377440"/>
            <a:ext cx="411480" cy="22860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20624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↓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71600" y="3017520"/>
            <a:ext cx="30175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sorgusu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2880360" y="2606040"/>
            <a:ext cx="914" cy="4114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880360" y="352044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611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Yazımdan sonra: önce DB commit → sonra ilgili cache key invalidate edilir (write-through değil).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425196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22960" y="42519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benzeri entity'ler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49040" y="42519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dakika (hard TTL)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475488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 galeri cache'i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749040" y="4754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saat (media:product:{id})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2960" y="5349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farklı entity tipleri farklı TTL politikası kullanır — tek bir 'blanket' süre yoktur; her servis kendi erişim örüntüsüne göre ayarlar.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400800" y="1536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— CQRS Okuma Modeli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2011680"/>
            <a:ext cx="1690707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64922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(yazma modeli)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274387" y="2295331"/>
            <a:ext cx="365760" cy="91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 dirty="0"/>
          </a:p>
        </p:txBody>
      </p:sp>
      <p:sp>
        <p:nvSpPr>
          <p:cNvPr id="32" name="Shape 30"/>
          <p:cNvSpPr/>
          <p:nvPr/>
        </p:nvSpPr>
        <p:spPr>
          <a:xfrm>
            <a:off x="8731587" y="1874520"/>
            <a:ext cx="1371600" cy="82296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8778240" y="18745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195560" y="2286000"/>
            <a:ext cx="365760" cy="914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10607040" y="2011680"/>
            <a:ext cx="1005840" cy="46817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1060704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tr-TR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760" dirty="0"/>
          </a:p>
          <a:p>
            <a:pPr marL="0" indent="0">
              <a:buNone/>
            </a:pPr>
            <a:r>
              <a:rPr lang="tr-TR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(okuma modeli)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649224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liste/arama sorguları YALNIZCA Elasticsearch'e gider — PostgreSQL'e ek yük binmez, N+1 sorgu riski oluşmaz.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6492240" y="3429000"/>
            <a:ext cx="5120640" cy="0"/>
          </a:xfrm>
          <a:prstGeom prst="line">
            <a:avLst/>
          </a:prstGeom>
          <a:noFill/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492240" y="35661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 NEDEN Elasticsearch kullanmıyor?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3858768"/>
            <a:ext cx="51206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sorguları her zaman productId ile birebir (exact-match) yapılır; full-text arama veya faceted search yoktur. Redis + PostgreSQL indeksi (idx_media_asset_product_status_sort) yeterlidir; ekstra ES eklemek gereksiz senkronizasyon karmaşıklığı getirirdi. Bunun yerine Media, event yayınlar (media.uploaded/deleted/updated) — Product servisi bu event'leri dinleyip kendi ES read-model'ine imageUrl/thumbnailUrl alanlarını denormalize eder.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/ MIME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OTP E-posta Bildirim Sistemi — notification-service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 Akışı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üretir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97480" y="2212848"/>
            <a:ext cx="41148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3154680" y="1828800"/>
            <a:ext cx="1371600" cy="77724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154680" y="1828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ecommerce.topic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37360" y="254203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key: auth.event.otp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840480" y="2651760"/>
            <a:ext cx="914" cy="3200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2651760" y="301752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65176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notification.email.otp.queue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0" y="3520440"/>
            <a:ext cx="914" cy="3200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2560320" y="388620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560320" y="3886200"/>
            <a:ext cx="2560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OtpEmailEventListener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@RabbitListener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0" y="4434840"/>
            <a:ext cx="914" cy="3200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2377440" y="480060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D97706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377440" y="4800600"/>
            <a:ext cx="2926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SmtpEmailSenderAdapter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JavaMailSender + MimeMessageHelper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3840480" y="5349240"/>
            <a:ext cx="914" cy="2743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2743200" y="5669280"/>
            <a:ext cx="2194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2743200" y="5669280"/>
            <a:ext cx="21945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→ kullanıcı e-postası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754880" y="4023360"/>
            <a:ext cx="822960" cy="0"/>
          </a:xfrm>
          <a:prstGeom prst="line">
            <a:avLst/>
          </a:prstGeom>
          <a:noFill/>
          <a:ln w="12700">
            <a:solidFill>
              <a:srgbClr val="B91C1C"/>
            </a:solidFill>
            <a:prstDash val="dash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40080" y="61996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6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→ notification.email.otp.dlq (dead-letter, retry)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640080" y="5961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6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İdempotency: MESSAGE_ID header (yoksa SHA-256 hash fallback) ile aynı OTP e-postasının iki kez gönderilmesi engellenir.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6172200" y="141732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400800" y="1536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multipart/alternative — Gerçek Kod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182880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com.notificationservice.infrastructure.mail.EmailTemplates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6400800" y="20848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OTP_HTML_TEMPLATE (Java text block, ShopBridge marka renkleri) + OTP_PLAIN_TEMPLATE — her ikisi de %s ile OTP kodunu alır.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60604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SmtpEmailSenderAdapter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0" y="2862072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6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plain = String.format(OTP_PLAIN_TEMPLATE, otp);</a:t>
            </a:r>
            <a:endParaRPr lang="en-US" sz="86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6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html  = String.format(OTP_HTML_TEMPLATE, otp);</a:t>
            </a:r>
            <a:endParaRPr lang="en-US" sz="86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6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helper.setText(plain, html);  // TEK çağrı!</a:t>
            </a:r>
            <a:endParaRPr lang="en-US" sz="86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6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javaMailSender.send(message);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400800" y="3913632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9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tek çağrı? setText(plain, false) ve ardından setText(html, true) AYRI çağrılırsa, ikinci çağrı ilk parçanın üzerine yazar ve gerçek bir multipart/alternative (hem HTML hem düz metin) MIME mesajı oluşmaz — e-posta istemcisi düz metne düşemez. Kod bu tuzağı önlemek için otp/html'i TEK setText(plain, html) çağrısında birlikte verir.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56235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3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Sonuç: e-posta istemcisi HTML gösteremiyorsa otomatik olarak düz metin sürümüne düşer — kullanıcı hiçbir zaman boş/bozuk e-posta almaz.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Kimlik Doğrulama &amp; Yetkilendirme Mimarisi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600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İstemci</a:t>
            </a:r>
            <a:endParaRPr lang="en-US" sz="840" dirty="0"/>
          </a:p>
        </p:txBody>
      </p:sp>
      <p:sp>
        <p:nvSpPr>
          <p:cNvPr id="6" name="Shape 4"/>
          <p:cNvSpPr/>
          <p:nvPr/>
        </p:nvSpPr>
        <p:spPr>
          <a:xfrm>
            <a:off x="2057400" y="1600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05740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JwtAuthenticationGlobalFilter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RateLimiterConfig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5349240" y="1600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534924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Mikroservis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JwtAuthFilter + RateLimitFilter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SecurityConfig (rol bazlı)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8641080" y="16002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641080" y="1600200"/>
            <a:ext cx="15544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GlobalExceptionHandler</a:t>
            </a:r>
            <a:endParaRPr lang="en-US" sz="840" dirty="0"/>
          </a:p>
          <a:p>
            <a:pPr marL="0" indent="0" algn="ctr">
              <a:buNone/>
            </a:pPr>
            <a:r>
              <a:rPr lang="en-US" sz="8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(her servisin kendi)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1828800" y="2057400"/>
            <a:ext cx="22860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3611880" y="2057400"/>
            <a:ext cx="17373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6903720" y="2057400"/>
            <a:ext cx="173736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6.x · her istek Authorization: Bearer &lt;JWT&gt; ile gider · rol claim'leri ROLE_CUSTOMER / ROLE_STORE / ROLE_ADMIN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31520" y="337413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Savunma Derinliği (Defense in Depth)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3904488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JWT'yi bir kez doğrular; her mikroservis kendi JwtAuthFilter'ı ile TEKRAR doğrular — gateway atlanırsa (örn. iç ağdan çağrı) servis yine korumasız kalmaz.</a:t>
            </a:r>
            <a:endParaRPr lang="en-US" sz="96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hem gateway hem servis seviyesinde ayrı filtre olarak bulunur.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4343400" y="32461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526280" y="337413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Koruması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26280" y="3904488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body/path'teki userId/storeId KABUL EDİLMEZ — kimlik JWT'nin sub claim'inden çıkarılır (extractUserIdFromSecurityContext deseni, servisler arasında birebir aynı).</a:t>
            </a:r>
            <a:endParaRPr lang="en-US" sz="96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ROLE_ADMIN bu kısıttan muaftır.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138160" y="324612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EF3C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8321040" y="337413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Aşaması Notu (bilinçli trade-off)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21040" y="3904488"/>
            <a:ext cx="3246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henüz develop aşamasında olduğu için yalnızca Access Token kullanılıyor; Refresh Token ve CSRF/XSRF token'ı YOK.</a:t>
            </a:r>
            <a:endParaRPr lang="en-US" sz="96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9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cookie yerine localStorage'da tutuluyor — prod'a geçişte bu iki karar yeniden değerlendirilmeli.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GÜVENLİK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KVKK Uyumluluğu — Alan Düzeyinde Şifreleme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Verilerin Korunması Kanunu (KVKK) md. 12 — veri güvenliği yükümlülüğü kapsamında, doğrudan tanımlayıcı PII alanları ve parolalar iki farklı, amaca özel yöntemle korunur.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— Geri Döndürülebilir (PII)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UserJpaEntity.name / email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@Convert(converter = AesEncryptionConverter.class)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246120" y="2880360"/>
            <a:ext cx="914" cy="274320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822960" y="320040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2296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Cipher.getInstance("AES") · ENCRYPT_MODE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32-byte anahtar: app.security.aes-secret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46120" y="3703320"/>
            <a:ext cx="914" cy="274320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22960" y="4023360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→ Base64 şifreli metin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 flipV="1">
            <a:off x="1280160" y="4480560"/>
            <a:ext cx="914" cy="27432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371600" y="44988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okuma: DECRYPT_MODE, uygulamaya şeffaf düz metin döner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777240" y="48920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tek noktadan (application.yml → app.security.aes-secret) yönetilir; converter Spring-managed bir @Component'tir — Hibernate onu context'ten alır.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172200" y="1691640"/>
            <a:ext cx="5468112" cy="3977640"/>
          </a:xfrm>
          <a:prstGeom prst="roundRect">
            <a:avLst>
              <a:gd name="adj" fmla="val 1839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00800" y="1810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— Tek Yönlü (Parola)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12140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PasswordEncoderConfig → BCryptPasswordEncoder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46520" y="242316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44652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RegisterRequest.password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915400" y="2880360"/>
            <a:ext cx="914" cy="2743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446520" y="320040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44652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passwordEncoder.encode(raw)  →  BCrypt hash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8915400" y="3657600"/>
            <a:ext cx="914" cy="2743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6446520" y="397764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44652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→ users.password_hash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446520" y="4617720"/>
            <a:ext cx="4937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446520" y="4617720"/>
            <a:ext cx="49377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passwordEncoder.matches(raw, hash) → true/false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46520" y="5212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decrypt YOK — hash'ten parola asla geri çözülemez, sadece karşılaştırılabilir.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172200" y="5715000"/>
            <a:ext cx="5468112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355080" y="577900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≠ BCrypt: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576072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3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simetrik ve GERİ DÖNÜŞÜMLÜDÜR (uygulama veriyi görüntülemek zorunda) — BCrypt tek yönlüdür (uygulama parolayı asla görmemeli, sadece doğrular).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27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&amp; Test Piramidi — Media Service Örneği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6 katmanlı şablon, farklı sıkılık seviyeleriyle tüm servislerde kullanılıyor — burada en eksiksiz uygulandığı servis örnek alındı.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5120640" cy="658368"/>
          </a:xfrm>
          <a:prstGeom prst="roundRect">
            <a:avLst>
              <a:gd name="adj" fmla="val 6944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1673352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(Whitebox)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8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sınıf — her adapter/use case/mapper izole (Mockito), Spring context yok. Örn. WebpImageConverterTest, MediaCommandUseCaseImplTest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05840" y="2340864"/>
            <a:ext cx="4480560" cy="658368"/>
          </a:xfrm>
          <a:prstGeom prst="roundRect">
            <a:avLst>
              <a:gd name="adj" fmla="val 694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097280" y="2386584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8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MediaControllerIntegrationTest — @WebMvcTest + gerçek Spring Security filtre zinciri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1325880" y="3054096"/>
            <a:ext cx="3840480" cy="658368"/>
          </a:xfrm>
          <a:prstGeom prst="roundRect">
            <a:avLst>
              <a:gd name="adj" fmla="val 6944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417320" y="30998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(Mimari Fitness)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1417320" y="3319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8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HexagonalArchitectureTest — ArchUnit ile port/adapter sınırları derleme zamanında denetlenir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1645920" y="3767328"/>
            <a:ext cx="3200400" cy="658368"/>
          </a:xfrm>
          <a:prstGeom prst="roundRect">
            <a:avLst>
              <a:gd name="adj" fmla="val 6944"/>
            </a:avLst>
          </a:prstGeom>
          <a:solidFill>
            <a:srgbClr val="115E5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737360" y="381304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(Testcontainers)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1737360" y="403250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8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sınıf — gerçek Postgres+RabbitMQ+Redis+MinIO: MediaUploadSubsystemTest, OutboxPublisherSubsystemTest, ...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1965960" y="4480560"/>
            <a:ext cx="2560320" cy="658368"/>
          </a:xfrm>
          <a:prstGeom prst="roundRect">
            <a:avLst>
              <a:gd name="adj" fmla="val 6944"/>
            </a:avLst>
          </a:prstGeom>
          <a:solidFill>
            <a:srgbClr val="134E4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057400" y="452628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(Blackbox E2E)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2057400" y="47457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8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MediaUploadFlowSystemTest, MediaAuthorizationSystemTest, MediaReorderAndPrimarySystemTest — HTTP üzerinden tam yığın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2286000" y="5193792"/>
            <a:ext cx="1920240" cy="658368"/>
          </a:xfrm>
          <a:prstGeom prst="roundRect">
            <a:avLst>
              <a:gd name="adj" fmla="val 6944"/>
            </a:avLst>
          </a:prstGeom>
          <a:solidFill>
            <a:srgbClr val="042F2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377440" y="5239512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(Kullanıcı Yolculuğu)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377440" y="545896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80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MediaLifecycleJourneyAlphaTest — upload→reorder→kapak değiştir→sil→ürün silme kaskadı, TEK senaryo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6263640" y="1627632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446520" y="17190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media-ci.yml — Pipeline Adımları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20116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Checkout + JDK 21 (Temurin, maven cache)</a:t>
            </a:r>
            <a:endParaRPr lang="en-US" sz="9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Docker erişilebilirliğini doğrula (docker info) — sert kapı</a:t>
            </a:r>
            <a:endParaRPr lang="en-US" sz="9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mvn -B clean verify — 6 katmanın TAMAMI tek komutta çalışır</a:t>
            </a:r>
            <a:endParaRPr lang="en-US" sz="9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Surefire raporlarında skipped/tests=0 taraması — Testcontainers testleri SESSİZCE atlanamaz</a:t>
            </a:r>
            <a:endParaRPr lang="en-US" sz="900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 sonuçları + build artifact (jar) yayınlanır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45720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EF3C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446520" y="466344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Standardı &amp; 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49377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servis (api-gateway, cart, order, payment, review, notification-service) aynı mvn clean verify + Testcontainers şablonunu paylaşır; product-service ve auth-service ise H2 in-memory ile Docker'sız, hızlı testler çalıştırır (auth-service CI'da en yalın şablonu kullanır: mvn test). Bugün Docker Compose (tek host) → yarın Kubernetes + Load Balancer: kod değişmez, orkestrasyon katmanı değişir.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2700" b="1" dirty="0" err="1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r>
              <a:rPr lang="tr-TR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Prometheus &amp; Grafana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ecommerce-infra'ya eklendi (RabbitMQ/Elasticsearch/Redis ile aynı paylaşılan altyapı ailesinde) — replika sayısından bağımsız, tek instance'ta bile gerçek üretim sinyali sağlar.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158654"/>
          </a:xfrm>
          <a:prstGeom prst="roundRect">
            <a:avLst>
              <a:gd name="adj" fmla="val 2254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Akışı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764792" y="21488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764792" y="21488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52344" y="21488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752344" y="21488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739896" y="21488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739896" y="21488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727448" y="21488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727448" y="21488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77240" y="26060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77240" y="26060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764792" y="26060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1764792" y="26060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52344" y="26060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2752344" y="26060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739896" y="26060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3739896" y="26060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727448" y="2606040"/>
            <a:ext cx="932688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27448" y="2606040"/>
            <a:ext cx="93268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77240" y="301752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biri /actuator/prometheus expose eder (15sn'de bir scrape)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3246120" y="3246120"/>
            <a:ext cx="914" cy="2743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2331720" y="3566160"/>
            <a:ext cx="1828800" cy="685800"/>
          </a:xfrm>
          <a:prstGeom prst="hexagon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331720" y="35661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:9090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4251960"/>
            <a:ext cx="914" cy="2743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2331720" y="457200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32A4F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2331720" y="4572000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:3300</a:t>
            </a:r>
            <a:endParaRPr lang="en-US" sz="830" dirty="0"/>
          </a:p>
          <a:p>
            <a:pPr marL="0" indent="0" algn="ctr">
              <a:buNone/>
            </a:pPr>
            <a:r>
              <a:rPr lang="en-US" sz="8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(datasource otomatik)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6172200" y="1691639"/>
            <a:ext cx="5468112" cy="4158653"/>
          </a:xfrm>
          <a:prstGeom prst="roundRect">
            <a:avLst>
              <a:gd name="adj" fmla="val 2254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635508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Panelleri ("ShopBridge — Servis Genel Bakış")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55080" y="2240280"/>
            <a:ext cx="5120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 istek oranı (servis başına)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p95 gecikme (servis başına)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5xx hata oranı (servis başına)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JVM heap kullanımı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DB connection pool — aktif bağlantı (HikariCP)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RabbitMQ — kuyruk başına bekleyen mesaj sayısı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27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"Anayasa" Deseni: Master Context + Coding Style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22960" y="1764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ÖZELLİK PROMPTU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örn. "Media Service İş Kuralları v1"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132A4F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CODING_STYLE_GUIDELINES v1.0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yok, DTO mapping, SOLID, IDOR kuralı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081428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22960" y="3410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MASTER_CONTEXT v1.4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C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teknoloji versiyonları, Outbox zorunlu, Saga tipi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377440"/>
            <a:ext cx="914" cy="155448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200400" y="3200400"/>
            <a:ext cx="914" cy="155448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"Metnini değiştirme, kısaltma veya parafraz etme." — her yeni prompt bu belgeye REFERANS verir, tekrar sorgulamaz.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5532120" cy="4663440"/>
          </a:xfrm>
          <a:prstGeom prst="roundRect">
            <a:avLst>
              <a:gd name="adj" fmla="val 1569"/>
            </a:avLst>
          </a:prstGeom>
          <a:solidFill>
            <a:srgbClr val="0F2B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 Mekanizmaları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194560"/>
            <a:ext cx="5074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ataması: </a:t>
            </a:r>
            <a:endParaRPr lang="en-US" sz="108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08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prompt modele "kıdemli Lead Backend Developer" / "Frontend Architect + HCI uzmanı" persona'sı verir — kararların tutarlılığını artırır.
</a:t>
            </a:r>
            <a:endParaRPr lang="en-US" sz="108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[Varsayım: ...] etiketleme: </a:t>
            </a:r>
            <a:endParaRPr lang="en-US" sz="108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08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belirsizlik varsa model kendi tercihini sessizce uydurmaz; gerekçesiyle açıkça etiketler (örn. "AWS S3 yerine self-hosted MinIO — Docker Compose tek host olduğu için").
</a:t>
            </a:r>
            <a:endParaRPr lang="en-US" sz="108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simülasyonu: </a:t>
            </a:r>
            <a:endParaRPr lang="en-US" sz="108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08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bir API parametresi olmadığı bilerek not edilmiş — chat arayüzünde modeli "disiplinli ve tutarlı" tutmak için davranışsal bir yönerge olarak kullanılmış. Bu ayrım doğru ve önemli.
</a:t>
            </a:r>
            <a:endParaRPr lang="en-US" sz="108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"Dokunulmaz" servisler ilkesi: </a:t>
            </a:r>
            <a:endParaRPr lang="en-US" sz="1080" dirty="0"/>
          </a:p>
          <a:p>
            <a:pPr marL="228600" indent="-228600">
              <a:lnSpc>
                <a:spcPct val="108000"/>
              </a:lnSpc>
              <a:buSzPct val="100000"/>
              <a:buChar char="•"/>
            </a:pPr>
            <a:r>
              <a:rPr lang="en-US" sz="108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servisler yeniden yazılmaz; gereken değişiklik yalnızca ayrı bir "... ENTEGRASYON NOTU" başlığında, eklenecek satırlar olarak verilir — regresyon riski mimari olarak engellenir.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Teslimat Manifestosu &amp; Doğrulanmış Sonuç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Teslimat Manifestosu = Tamamlanma Sözleşmesi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prompt, sonunda 20+ maddelik zorunlu bir kontrol listesiyle kapanır (dosya ağacı → pom.xml → domain → port → adapter → controller → Dockerfile → çalıştırma talimatı).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bırakma, // ... ile kısaltma yapma" kuralı + her dosya öncesi ### DOSYA: &lt;yol&gt; başlığı → çıktı asla yarım/atlanmış kalmaz.</a:t>
            </a:r>
            <a:endParaRPr lang="en-US" sz="10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 yapısı ve API sözleşmesi (JSON şema, hata kodları) prompt içinde birebir sabitlenir — model alan/endpoint uydurmaz.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CCFBF1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777240" y="3959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Doğrulama: Prompt ⇄ Gerçek Kod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Service prompt'unda tanımlanan media_asset şeması (version kolonu, partial unique index uq_media_asset_primary, outbox_event) ve compose.yml'deki postgres:16-alpine / minio imajları — gerçek migration ve compose dosyalarında birebir doğrulandı.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5349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Disiplinli "anayasa" prompt'u → doğrulanabilir, tutarlı ve regresyonsuz üretim koduna dönüşüyor.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68112" cy="2286000"/>
          </a:xfrm>
          <a:prstGeom prst="roundRect">
            <a:avLst>
              <a:gd name="adj" fmla="val 3200"/>
            </a:avLst>
          </a:prstGeom>
          <a:solidFill>
            <a:srgbClr val="0B1E3D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0" y="15361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— Backend: Media Service Üretim Promptu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D9F9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“[Varsayım: "Cloud servisi" için S3 uyumlu MinIO seçildi; AWS S3'e geçiş, StoragePort implementasyonu değiştirilerek yapılır — başka hiçbir dosya değişmez.]”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Port/Adapter ayrımı sayesinde bir altyapı kararı (MinIO→S3) tek bir adapter sınıfıyla sınırlı kalır — bu doğrudan Hexagonal Architecture'ın kazandırdığı esneklik.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72200" y="3840480"/>
            <a:ext cx="5468112" cy="2606040"/>
          </a:xfrm>
          <a:prstGeom prst="roundRect">
            <a:avLst>
              <a:gd name="adj" fmla="val 2807"/>
            </a:avLst>
          </a:prstGeom>
          <a:solidFill>
            <a:srgbClr val="EEF2F7"/>
          </a:solidFill>
          <a:ln w="1270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00800" y="39593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— Frontend: Ürün Detay MFE Promptu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“Görsel alanı backend'de henüz yok → layout şimdiden ayrılır (CLS = 0), placeholder gösterilir. Alan eklendiğinde YALNIZCA 2 dosya değişir: types.ts ve resolveImageUrl().”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52578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"Tek Değişim Noktası" deseni: gelecekteki backend değişikliğinin etkisini tek bir dosyaya hapseder — Theo Mandel'in "Arayüzü Tutarlı Yap" kuralının prompt seviyesinde karşılığı.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182880"/>
            <a:ext cx="2011680" cy="2011680"/>
          </a:xfrm>
          <a:prstGeom prst="hexagon">
            <a:avLst/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91440" y="5394960"/>
            <a:ext cx="1463040" cy="1463040"/>
          </a:xfrm>
          <a:prstGeom prst="hexagon">
            <a:avLst/>
          </a:prstGeom>
          <a:solidFill>
            <a:srgbClr val="132A4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Kazanımlar &amp; Not Düzeltmeleri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Kazanımlar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3492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mikroservis, tamamı aynı Hexagonal + Clean Architecture şablonunu birebir takip ediyor — tutarlılık kod incelemesinde de doğrulanabilir.</a:t>
            </a:r>
            <a:endParaRPr lang="en-US" sz="980" dirty="0"/>
          </a:p>
          <a:p>
            <a:pPr marL="228600" indent="-2286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(PostgreSQL yazma / Elasticsearch okuma) + Redis cache-aside ile okuma yükü yazma yükünden ayrıştırıldı.</a:t>
            </a:r>
            <a:endParaRPr lang="en-US" sz="980" dirty="0"/>
          </a:p>
          <a:p>
            <a:pPr marL="228600" indent="-2286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Outbox + Choreography Saga ile mesaj kaybı riski olmayan, gevşek bağlı servis iletişimi.</a:t>
            </a:r>
            <a:endParaRPr lang="en-US" sz="980" dirty="0"/>
          </a:p>
          <a:p>
            <a:pPr marL="228600" indent="-2286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SOLID/Hexagonal uyumu iddia değil: ArchUnit (module/HexagonalArchitectureTest) mimari kurallarını CI'da otomatik denetliyor — ihlal build'i kırıyor.</a:t>
            </a:r>
            <a:endParaRPr lang="en-US" sz="980" dirty="0"/>
          </a:p>
          <a:p>
            <a:pPr marL="228600" indent="-2286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katmanlı test piramidi (unit→integration→module→subsystem→system→alpha), Testcontainers'ın sessizce atlanmasına karşı ayrı bir CI güvencesiyle birlikte.</a:t>
            </a:r>
            <a:endParaRPr lang="en-US" sz="980" dirty="0"/>
          </a:p>
          <a:p>
            <a:pPr marL="228600" indent="-2286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disiplini (Anayasa deseni + Teslimat Manifestosu) sayesinde büyük bir monorepo'da tutarlı, doğrulanabilir kod üretimi.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4008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FA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75720" y="6537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5026</Words>
  <Application>Microsoft Office PowerPoint</Application>
  <PresentationFormat>Özel</PresentationFormat>
  <Paragraphs>703</Paragraphs>
  <Slides>27</Slides>
  <Notes>27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OLCAY KARAHASAN</cp:lastModifiedBy>
  <cp:revision>9</cp:revision>
  <dcterms:created xsi:type="dcterms:W3CDTF">2026-07-27T13:25:38Z</dcterms:created>
  <dcterms:modified xsi:type="dcterms:W3CDTF">2026-07-29T06:09:47Z</dcterms:modified>
</cp:coreProperties>
</file>